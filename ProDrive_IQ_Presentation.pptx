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040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772400" y="0"/>
            <a:ext cx="4416552" cy="6858000"/>
          </a:xfrm>
          <a:prstGeom prst="rect">
            <a:avLst/>
          </a:prstGeom>
          <a:solidFill>
            <a:srgbClr val="0057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73152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400" b="1" i="0">
                <a:solidFill>
                  <a:srgbClr val="FFFFFF"/>
                </a:solidFill>
                <a:latin typeface="Segoe UI"/>
              </a:rPr>
              <a:t>ProDrive IQ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83464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D8E2FF"/>
                </a:solidFill>
                <a:latin typeface="Segoe UI"/>
              </a:rPr>
              <a:t>A Car Service Booking Platform for Saudi Arabia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3611880"/>
            <a:ext cx="3657600" cy="45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37947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D8E2FF"/>
                </a:solidFill>
                <a:latin typeface="Segoe UI"/>
              </a:rPr>
              <a:t>BIS351 — Web Business Applications  |  Milestone 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53035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Segoe UI"/>
              </a:rPr>
              <a:t>Mansour Alkhater   ·   Faisal Alsaleh   ·   Sultan Alqasim   ·   Abdullah Alsinan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7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040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704320" y="649224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  <a:latin typeface="Segoe UI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200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408B"/>
                </a:solidFill>
                <a:latin typeface="Segoe UI"/>
              </a:rPr>
              <a:t>THE CHALLENGE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008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191C1E"/>
                </a:solidFill>
                <a:latin typeface="Segoe UI"/>
              </a:rPr>
              <a:t>The Problem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828800"/>
            <a:ext cx="3566160" cy="3931920"/>
          </a:xfrm>
          <a:prstGeom prst="rect">
            <a:avLst/>
          </a:prstGeom>
          <a:solidFill>
            <a:srgbClr val="FFFFFF"/>
          </a:solidFill>
          <a:ln w="6350">
            <a:solidFill>
              <a:srgbClr val="D8E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828800"/>
            <a:ext cx="3566160" cy="109728"/>
          </a:xfrm>
          <a:prstGeom prst="rect">
            <a:avLst/>
          </a:prstGeom>
          <a:solidFill>
            <a:srgbClr val="0040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94360" y="2057400"/>
            <a:ext cx="594360" cy="594360"/>
          </a:xfrm>
          <a:prstGeom prst="rect">
            <a:avLst/>
          </a:prstGeom>
          <a:solidFill>
            <a:srgbClr val="D8E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2029968"/>
            <a:ext cx="594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00408B"/>
                </a:solidFill>
                <a:latin typeface="Segoe U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788920"/>
            <a:ext cx="3200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91C1E"/>
                </a:solidFill>
                <a:latin typeface="Segoe UI"/>
              </a:rPr>
              <a:t>Find Trusted Workshops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429000"/>
            <a:ext cx="32004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24752"/>
                </a:solidFill>
                <a:latin typeface="Segoe UI"/>
              </a:rPr>
              <a:t>Difficult to find reliable service providers without personal recommendations or referrals.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43400" y="1828800"/>
            <a:ext cx="3566160" cy="3931920"/>
          </a:xfrm>
          <a:prstGeom prst="rect">
            <a:avLst/>
          </a:prstGeom>
          <a:solidFill>
            <a:srgbClr val="FFFFFF"/>
          </a:solidFill>
          <a:ln w="6350">
            <a:solidFill>
              <a:srgbClr val="D8E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43400" y="1828800"/>
            <a:ext cx="3566160" cy="109728"/>
          </a:xfrm>
          <a:prstGeom prst="rect">
            <a:avLst/>
          </a:prstGeom>
          <a:solidFill>
            <a:srgbClr val="0040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480560" y="2057400"/>
            <a:ext cx="594360" cy="594360"/>
          </a:xfrm>
          <a:prstGeom prst="rect">
            <a:avLst/>
          </a:prstGeom>
          <a:solidFill>
            <a:srgbClr val="D8E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80560" y="2029968"/>
            <a:ext cx="594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00408B"/>
                </a:solidFill>
                <a:latin typeface="Segoe UI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26280" y="2788920"/>
            <a:ext cx="3200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91C1E"/>
                </a:solidFill>
                <a:latin typeface="Segoe UI"/>
              </a:rPr>
              <a:t>No Price Transparency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26280" y="3429000"/>
            <a:ext cx="32004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24752"/>
                </a:solidFill>
                <a:latin typeface="Segoe UI"/>
              </a:rPr>
              <a:t>Customers don't know the cost of services like oil changes or brake repair until they visit.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229600" y="1828800"/>
            <a:ext cx="3566160" cy="3931920"/>
          </a:xfrm>
          <a:prstGeom prst="rect">
            <a:avLst/>
          </a:prstGeom>
          <a:solidFill>
            <a:srgbClr val="FFFFFF"/>
          </a:solidFill>
          <a:ln w="6350">
            <a:solidFill>
              <a:srgbClr val="D8E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229600" y="1828800"/>
            <a:ext cx="3566160" cy="109728"/>
          </a:xfrm>
          <a:prstGeom prst="rect">
            <a:avLst/>
          </a:prstGeom>
          <a:solidFill>
            <a:srgbClr val="0040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366760" y="2057400"/>
            <a:ext cx="594360" cy="594360"/>
          </a:xfrm>
          <a:prstGeom prst="rect">
            <a:avLst/>
          </a:prstGeom>
          <a:solidFill>
            <a:srgbClr val="D8E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66760" y="2029968"/>
            <a:ext cx="594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00408B"/>
                </a:solidFill>
                <a:latin typeface="Segoe UI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12480" y="2788920"/>
            <a:ext cx="3200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91C1E"/>
                </a:solidFill>
                <a:latin typeface="Segoe UI"/>
              </a:rPr>
              <a:t>Inefficient Booking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12480" y="3429000"/>
            <a:ext cx="32004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24752"/>
                </a:solidFill>
                <a:latin typeface="Segoe UI"/>
              </a:rPr>
              <a:t>Appointments require phone calls or physical visits, wasting time and creating uncertainty.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7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040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704320" y="649224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  <a:latin typeface="Segoe UI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200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408B"/>
                </a:solidFill>
                <a:latin typeface="Segoe UI"/>
              </a:rPr>
              <a:t>OUR SOLUTION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008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191C1E"/>
                </a:solidFill>
                <a:latin typeface="Segoe UI"/>
              </a:rPr>
              <a:t>ProDrive IQ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6304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424752"/>
                </a:solidFill>
                <a:latin typeface="Segoe UI"/>
              </a:rPr>
              <a:t>One platform to find, compare, and book car services online.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194560"/>
            <a:ext cx="2743200" cy="3840480"/>
          </a:xfrm>
          <a:prstGeom prst="rect">
            <a:avLst/>
          </a:prstGeom>
          <a:solidFill>
            <a:srgbClr val="FFFFFF"/>
          </a:solidFill>
          <a:ln w="6350">
            <a:solidFill>
              <a:srgbClr val="D8E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2194560"/>
            <a:ext cx="2743200" cy="109728"/>
          </a:xfrm>
          <a:prstGeom prst="rect">
            <a:avLst/>
          </a:prstGeom>
          <a:solidFill>
            <a:srgbClr val="0040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237744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00408B"/>
                </a:solidFill>
                <a:latin typeface="Segoe UI"/>
              </a:rPr>
              <a:t>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3017520"/>
            <a:ext cx="24688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91C1E"/>
                </a:solidFill>
                <a:latin typeface="Segoe UI"/>
              </a:rPr>
              <a:t>10+ Verified Workshops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3749039"/>
            <a:ext cx="24688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24752"/>
                </a:solidFill>
                <a:latin typeface="Segoe UI"/>
              </a:rPr>
              <a:t>Listed across Riyadh, Jeddah,
Dammam &amp; Al Khobar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520440" y="2194560"/>
            <a:ext cx="2743200" cy="3840480"/>
          </a:xfrm>
          <a:prstGeom prst="rect">
            <a:avLst/>
          </a:prstGeom>
          <a:solidFill>
            <a:srgbClr val="FFFFFF"/>
          </a:solidFill>
          <a:ln w="6350">
            <a:solidFill>
              <a:srgbClr val="D8E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520440" y="2194560"/>
            <a:ext cx="2743200" cy="109728"/>
          </a:xfrm>
          <a:prstGeom prst="rect">
            <a:avLst/>
          </a:prstGeom>
          <a:solidFill>
            <a:srgbClr val="0040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57600" y="237744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00408B"/>
                </a:solidFill>
                <a:latin typeface="Segoe UI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0" y="3017520"/>
            <a:ext cx="24688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91C1E"/>
                </a:solidFill>
                <a:latin typeface="Segoe UI"/>
              </a:rPr>
              <a:t>Full Price Transparency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0" y="3749039"/>
            <a:ext cx="24688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24752"/>
                </a:solidFill>
                <a:latin typeface="Segoe UI"/>
              </a:rPr>
              <a:t>Service prices shown upfront
including 15% VAT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583680" y="2194560"/>
            <a:ext cx="2743200" cy="3840480"/>
          </a:xfrm>
          <a:prstGeom prst="rect">
            <a:avLst/>
          </a:prstGeom>
          <a:solidFill>
            <a:srgbClr val="FFFFFF"/>
          </a:solidFill>
          <a:ln w="6350">
            <a:solidFill>
              <a:srgbClr val="D8E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583680" y="2194560"/>
            <a:ext cx="2743200" cy="109728"/>
          </a:xfrm>
          <a:prstGeom prst="rect">
            <a:avLst/>
          </a:prstGeom>
          <a:solidFill>
            <a:srgbClr val="0040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720840" y="237744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00408B"/>
                </a:solidFill>
                <a:latin typeface="Segoe UI"/>
              </a:rPr>
              <a:t>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20840" y="3017520"/>
            <a:ext cx="24688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91C1E"/>
                </a:solidFill>
                <a:latin typeface="Segoe UI"/>
              </a:rPr>
              <a:t>Online Booking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20840" y="3749039"/>
            <a:ext cx="24688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24752"/>
                </a:solidFill>
                <a:latin typeface="Segoe UI"/>
              </a:rPr>
              <a:t>Book an appointment in
under 2 minutes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646920" y="2194560"/>
            <a:ext cx="2743200" cy="3840480"/>
          </a:xfrm>
          <a:prstGeom prst="rect">
            <a:avLst/>
          </a:prstGeom>
          <a:solidFill>
            <a:srgbClr val="FFFFFF"/>
          </a:solidFill>
          <a:ln w="6350">
            <a:solidFill>
              <a:srgbClr val="D8E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646920" y="2194560"/>
            <a:ext cx="2743200" cy="109728"/>
          </a:xfrm>
          <a:prstGeom prst="rect">
            <a:avLst/>
          </a:prstGeom>
          <a:solidFill>
            <a:srgbClr val="0040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784080" y="237744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00408B"/>
                </a:solidFill>
                <a:latin typeface="Segoe UI"/>
              </a:rPr>
              <a:t>✓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784080" y="3017520"/>
            <a:ext cx="24688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91C1E"/>
                </a:solidFill>
                <a:latin typeface="Segoe UI"/>
              </a:rPr>
              <a:t>Personal Dashboard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784080" y="3749039"/>
            <a:ext cx="24688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24752"/>
                </a:solidFill>
                <a:latin typeface="Segoe UI"/>
              </a:rPr>
              <a:t>Track all upcoming and past
bookings in one place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7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040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704320" y="649224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  <a:latin typeface="Segoe UI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200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408B"/>
                </a:solidFill>
                <a:latin typeface="Segoe UI"/>
              </a:rPr>
              <a:t>WHAT WE BUILT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008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191C1E"/>
                </a:solidFill>
                <a:latin typeface="Segoe UI"/>
              </a:rPr>
              <a:t>6 Fully Functional Pages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645920"/>
            <a:ext cx="3566160" cy="2331720"/>
          </a:xfrm>
          <a:prstGeom prst="rect">
            <a:avLst/>
          </a:prstGeom>
          <a:solidFill>
            <a:srgbClr val="FFFFFF"/>
          </a:solidFill>
          <a:ln w="6350">
            <a:solidFill>
              <a:srgbClr val="D8E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645920"/>
            <a:ext cx="3566160" cy="109728"/>
          </a:xfrm>
          <a:prstGeom prst="rect">
            <a:avLst/>
          </a:prstGeom>
          <a:solidFill>
            <a:srgbClr val="0040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1792" y="182880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91C1E"/>
                </a:solidFill>
                <a:latin typeface="Segoe UI"/>
              </a:rPr>
              <a:t>🏠  Home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359152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24752"/>
                </a:solidFill>
                <a:latin typeface="Segoe UI"/>
              </a:rPr>
              <a:t>–  Search by keyword and city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862072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24752"/>
                </a:solidFill>
                <a:latin typeface="Segoe UI"/>
              </a:rPr>
              <a:t>–  6 featured workshop cards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364992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24752"/>
                </a:solidFill>
                <a:latin typeface="Segoe UI"/>
              </a:rPr>
              <a:t>–  Direct booking from the home page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43400" y="1645920"/>
            <a:ext cx="3566160" cy="2331720"/>
          </a:xfrm>
          <a:prstGeom prst="rect">
            <a:avLst/>
          </a:prstGeom>
          <a:solidFill>
            <a:srgbClr val="FFFFFF"/>
          </a:solidFill>
          <a:ln w="6350">
            <a:solidFill>
              <a:srgbClr val="D8E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43400" y="1645920"/>
            <a:ext cx="3566160" cy="109728"/>
          </a:xfrm>
          <a:prstGeom prst="rect">
            <a:avLst/>
          </a:prstGeom>
          <a:solidFill>
            <a:srgbClr val="0040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07992" y="182880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91C1E"/>
                </a:solidFill>
                <a:latin typeface="Segoe UI"/>
              </a:rPr>
              <a:t>🔐  Login / Register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26280" y="2359152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24752"/>
                </a:solidFill>
                <a:latin typeface="Segoe UI"/>
              </a:rPr>
              <a:t>–  Toggle between login and register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26280" y="2862072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24752"/>
                </a:solidFill>
                <a:latin typeface="Segoe UI"/>
              </a:rPr>
              <a:t>–  Inline form validation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26280" y="3364992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24752"/>
                </a:solidFill>
                <a:latin typeface="Segoe UI"/>
              </a:rPr>
              <a:t>–  Auth saved to localStorage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229600" y="1645920"/>
            <a:ext cx="3566160" cy="2331720"/>
          </a:xfrm>
          <a:prstGeom prst="rect">
            <a:avLst/>
          </a:prstGeom>
          <a:solidFill>
            <a:srgbClr val="FFFFFF"/>
          </a:solidFill>
          <a:ln w="6350">
            <a:solidFill>
              <a:srgbClr val="D8E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229600" y="1645920"/>
            <a:ext cx="3566160" cy="109728"/>
          </a:xfrm>
          <a:prstGeom prst="rect">
            <a:avLst/>
          </a:prstGeom>
          <a:solidFill>
            <a:srgbClr val="0040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94192" y="182880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91C1E"/>
                </a:solidFill>
                <a:latin typeface="Segoe UI"/>
              </a:rPr>
              <a:t>🔧  Service Providers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12480" y="2359152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24752"/>
                </a:solidFill>
                <a:latin typeface="Segoe UI"/>
              </a:rPr>
              <a:t>–  All 10 workshops rendered dynamically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12480" y="2862072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24752"/>
                </a:solidFill>
                <a:latin typeface="Segoe UI"/>
              </a:rPr>
              <a:t>–  Filter by city and service type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12480" y="3364992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24752"/>
                </a:solidFill>
                <a:latin typeface="Segoe UI"/>
              </a:rPr>
              <a:t>–  Instant results, no page reload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4114800"/>
            <a:ext cx="3566160" cy="2331720"/>
          </a:xfrm>
          <a:prstGeom prst="rect">
            <a:avLst/>
          </a:prstGeom>
          <a:solidFill>
            <a:srgbClr val="FFFFFF"/>
          </a:solidFill>
          <a:ln w="6350">
            <a:solidFill>
              <a:srgbClr val="D8E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57200" y="4114800"/>
            <a:ext cx="3566160" cy="109728"/>
          </a:xfrm>
          <a:prstGeom prst="rect">
            <a:avLst/>
          </a:prstGeom>
          <a:solidFill>
            <a:srgbClr val="0040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21792" y="429768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91C1E"/>
                </a:solidFill>
                <a:latin typeface="Segoe UI"/>
              </a:rPr>
              <a:t>📅  Booking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" y="4828032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24752"/>
                </a:solidFill>
                <a:latin typeface="Segoe UI"/>
              </a:rPr>
              <a:t>–  Select service, date, and time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" y="5330952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24752"/>
                </a:solidFill>
                <a:latin typeface="Segoe UI"/>
              </a:rPr>
              <a:t>–  Live summary with 15% VAT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" y="5833872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24752"/>
                </a:solidFill>
                <a:latin typeface="Segoe UI"/>
              </a:rPr>
              <a:t>–  Booking saved on confirm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343400" y="4114800"/>
            <a:ext cx="3566160" cy="2331720"/>
          </a:xfrm>
          <a:prstGeom prst="rect">
            <a:avLst/>
          </a:prstGeom>
          <a:solidFill>
            <a:srgbClr val="FFFFFF"/>
          </a:solidFill>
          <a:ln w="6350">
            <a:solidFill>
              <a:srgbClr val="D8E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4343400" y="4114800"/>
            <a:ext cx="3566160" cy="109728"/>
          </a:xfrm>
          <a:prstGeom prst="rect">
            <a:avLst/>
          </a:prstGeom>
          <a:solidFill>
            <a:srgbClr val="0040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507992" y="429768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91C1E"/>
                </a:solidFill>
                <a:latin typeface="Segoe UI"/>
              </a:rPr>
              <a:t>📊  Dashboard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26280" y="4828032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24752"/>
                </a:solidFill>
                <a:latin typeface="Segoe UI"/>
              </a:rPr>
              <a:t>–  View upcoming bookings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26280" y="5330952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24752"/>
                </a:solidFill>
                <a:latin typeface="Segoe UI"/>
              </a:rPr>
              <a:t>–  Service history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26280" y="5833872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24752"/>
                </a:solidFill>
                <a:latin typeface="Segoe UI"/>
              </a:rPr>
              <a:t>–  Profile and logout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229600" y="4114800"/>
            <a:ext cx="3566160" cy="2331720"/>
          </a:xfrm>
          <a:prstGeom prst="rect">
            <a:avLst/>
          </a:prstGeom>
          <a:solidFill>
            <a:srgbClr val="FFFFFF"/>
          </a:solidFill>
          <a:ln w="6350">
            <a:solidFill>
              <a:srgbClr val="D8E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8229600" y="4114800"/>
            <a:ext cx="3566160" cy="109728"/>
          </a:xfrm>
          <a:prstGeom prst="rect">
            <a:avLst/>
          </a:prstGeom>
          <a:solidFill>
            <a:srgbClr val="0040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394192" y="429768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91C1E"/>
                </a:solidFill>
                <a:latin typeface="Segoe UI"/>
              </a:rPr>
              <a:t>ℹ️  About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412480" y="4828032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24752"/>
                </a:solidFill>
                <a:latin typeface="Segoe UI"/>
              </a:rPr>
              <a:t>–  Company story and stats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412480" y="5330952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24752"/>
                </a:solidFill>
                <a:latin typeface="Segoe UI"/>
              </a:rPr>
              <a:t>–  How It Works — 3 steps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412480" y="5833872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24752"/>
                </a:solidFill>
                <a:latin typeface="Segoe UI"/>
              </a:rPr>
              <a:t>–  Contact information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7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040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704320" y="649224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  <a:latin typeface="Segoe UI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200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408B"/>
                </a:solidFill>
                <a:latin typeface="Segoe UI"/>
              </a:rPr>
              <a:t>IMPLEMENTATION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008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191C1E"/>
                </a:solidFill>
                <a:latin typeface="Segoe UI"/>
              </a:rPr>
              <a:t>How It Was Built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737360"/>
            <a:ext cx="3566160" cy="4389120"/>
          </a:xfrm>
          <a:prstGeom prst="rect">
            <a:avLst/>
          </a:prstGeom>
          <a:solidFill>
            <a:srgbClr val="FFFFFF"/>
          </a:solidFill>
          <a:ln w="6350">
            <a:solidFill>
              <a:srgbClr val="D8E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737360"/>
            <a:ext cx="3566160" cy="457200"/>
          </a:xfrm>
          <a:prstGeom prst="rect">
            <a:avLst/>
          </a:prstGeom>
          <a:solidFill>
            <a:srgbClr val="0040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801368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Segoe UI"/>
              </a:rPr>
              <a:t>HTML &amp; CSS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2423160"/>
            <a:ext cx="64008" cy="320040"/>
          </a:xfrm>
          <a:prstGeom prst="rect">
            <a:avLst/>
          </a:prstGeom>
          <a:solidFill>
            <a:srgbClr val="0040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2377440"/>
            <a:ext cx="3017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24752"/>
                </a:solidFill>
                <a:latin typeface="Segoe UI"/>
              </a:rPr>
              <a:t>Semantic tags: nav, main,
section, aside, footer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3611880"/>
            <a:ext cx="64008" cy="320040"/>
          </a:xfrm>
          <a:prstGeom prst="rect">
            <a:avLst/>
          </a:prstGeom>
          <a:solidFill>
            <a:srgbClr val="0040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3566160"/>
            <a:ext cx="3017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24752"/>
                </a:solidFill>
                <a:latin typeface="Segoe UI"/>
              </a:rPr>
              <a:t>Custom CSS classes for clean,
reusable styling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4800600"/>
            <a:ext cx="64008" cy="320040"/>
          </a:xfrm>
          <a:prstGeom prst="rect">
            <a:avLst/>
          </a:prstGeom>
          <a:solidFill>
            <a:srgbClr val="0040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4754880"/>
            <a:ext cx="3017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24752"/>
                </a:solidFill>
                <a:latin typeface="Segoe UI"/>
              </a:rPr>
              <a:t>Tailwind CSS via CDN for
layout and spacing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343400" y="1737360"/>
            <a:ext cx="3566160" cy="4389120"/>
          </a:xfrm>
          <a:prstGeom prst="rect">
            <a:avLst/>
          </a:prstGeom>
          <a:solidFill>
            <a:srgbClr val="FFFFFF"/>
          </a:solidFill>
          <a:ln w="6350">
            <a:solidFill>
              <a:srgbClr val="D8E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343400" y="1737360"/>
            <a:ext cx="3566160" cy="457200"/>
          </a:xfrm>
          <a:prstGeom prst="rect">
            <a:avLst/>
          </a:prstGeom>
          <a:solidFill>
            <a:srgbClr val="0040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480560" y="1801368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Segoe UI"/>
              </a:rPr>
              <a:t>JavaScript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26280" y="2423160"/>
            <a:ext cx="64008" cy="320040"/>
          </a:xfrm>
          <a:prstGeom prst="rect">
            <a:avLst/>
          </a:prstGeom>
          <a:solidFill>
            <a:srgbClr val="0040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709160" y="2377440"/>
            <a:ext cx="3017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24752"/>
                </a:solidFill>
                <a:latin typeface="Segoe UI"/>
              </a:rPr>
              <a:t>One shared script.js for
all 6 pages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26280" y="3611880"/>
            <a:ext cx="64008" cy="320040"/>
          </a:xfrm>
          <a:prstGeom prst="rect">
            <a:avLst/>
          </a:prstGeom>
          <a:solidFill>
            <a:srgbClr val="0040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709160" y="3566160"/>
            <a:ext cx="3017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24752"/>
                </a:solidFill>
                <a:latin typeface="Segoe UI"/>
              </a:rPr>
              <a:t>Dynamic cards rendered from
a data array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26280" y="4800600"/>
            <a:ext cx="64008" cy="320040"/>
          </a:xfrm>
          <a:prstGeom prst="rect">
            <a:avLst/>
          </a:prstGeom>
          <a:solidFill>
            <a:srgbClr val="0040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709160" y="4754880"/>
            <a:ext cx="3017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24752"/>
                </a:solidFill>
                <a:latin typeface="Segoe UI"/>
              </a:rPr>
              <a:t>Real-time VAT calculation
and form validation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229600" y="1737360"/>
            <a:ext cx="3566160" cy="4389120"/>
          </a:xfrm>
          <a:prstGeom prst="rect">
            <a:avLst/>
          </a:prstGeom>
          <a:solidFill>
            <a:srgbClr val="FFFFFF"/>
          </a:solidFill>
          <a:ln w="6350">
            <a:solidFill>
              <a:srgbClr val="D8E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229600" y="1737360"/>
            <a:ext cx="3566160" cy="457200"/>
          </a:xfrm>
          <a:prstGeom prst="rect">
            <a:avLst/>
          </a:prstGeom>
          <a:solidFill>
            <a:srgbClr val="0040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66760" y="1801368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Segoe UI"/>
              </a:rPr>
              <a:t>localStorage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412480" y="2423160"/>
            <a:ext cx="64008" cy="320040"/>
          </a:xfrm>
          <a:prstGeom prst="rect">
            <a:avLst/>
          </a:prstGeom>
          <a:solidFill>
            <a:srgbClr val="0040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595360" y="2377440"/>
            <a:ext cx="3017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24752"/>
                </a:solidFill>
                <a:latin typeface="Segoe UI"/>
              </a:rPr>
              <a:t>Stores registered users
and login sessions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412480" y="3611880"/>
            <a:ext cx="64008" cy="320040"/>
          </a:xfrm>
          <a:prstGeom prst="rect">
            <a:avLst/>
          </a:prstGeom>
          <a:solidFill>
            <a:srgbClr val="0040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595360" y="3566160"/>
            <a:ext cx="3017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24752"/>
                </a:solidFill>
                <a:latin typeface="Segoe UI"/>
              </a:rPr>
              <a:t>Saves confirmed bookings
across pages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412480" y="4800600"/>
            <a:ext cx="64008" cy="320040"/>
          </a:xfrm>
          <a:prstGeom prst="rect">
            <a:avLst/>
          </a:prstGeom>
          <a:solidFill>
            <a:srgbClr val="0040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595360" y="4754880"/>
            <a:ext cx="3017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24752"/>
                </a:solidFill>
                <a:latin typeface="Segoe UI"/>
              </a:rPr>
              <a:t>No backend or server
required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040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57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704320" y="649224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  <a:latin typeface="Segoe UI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1371600"/>
            <a:ext cx="121889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D8E2FF"/>
                </a:solidFill>
                <a:latin typeface="Segoe UI"/>
              </a:rPr>
              <a:t>LIVE DEMO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2103120"/>
            <a:ext cx="1218895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200" b="1" i="0">
                <a:solidFill>
                  <a:srgbClr val="FFFFFF"/>
                </a:solidFill>
                <a:latin typeface="Segoe UI"/>
              </a:rPr>
              <a:t>Let's see it in action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2286000" y="3291840"/>
            <a:ext cx="7616952" cy="822960"/>
          </a:xfrm>
          <a:prstGeom prst="rect">
            <a:avLst/>
          </a:prstGeom>
          <a:solidFill>
            <a:srgbClr val="0057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286000" y="3337560"/>
            <a:ext cx="76169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Segoe UI"/>
              </a:rPr>
              <a:t>mbm0008.github.io/prodrive-iq-live/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448056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D8E2FF"/>
                </a:solidFill>
                <a:latin typeface="Segoe UI"/>
              </a:rPr>
              <a:t>1. Register a new account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448056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D8E2FF"/>
                </a:solidFill>
                <a:latin typeface="Segoe UI"/>
              </a:rPr>
              <a:t>2. Browse workshops &amp; click Book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9360" y="448056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D8E2FF"/>
                </a:solidFill>
                <a:latin typeface="Segoe UI"/>
              </a:rPr>
              <a:t>3. Complete booking — see VAT summary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78240" y="448056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D8E2FF"/>
                </a:solidFill>
                <a:latin typeface="Segoe UI"/>
              </a:rPr>
              <a:t>4. Check the Dashboard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7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040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704320" y="649224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  <a:latin typeface="Segoe UI"/>
              </a:rPr>
              <a:t>7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4754880" cy="6858000"/>
          </a:xfrm>
          <a:prstGeom prst="rect">
            <a:avLst/>
          </a:prstGeom>
          <a:solidFill>
            <a:srgbClr val="0040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371600"/>
            <a:ext cx="40233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 i="0">
                <a:solidFill>
                  <a:srgbClr val="FFFFFF"/>
                </a:solidFill>
                <a:latin typeface="Segoe UI"/>
              </a:rPr>
              <a:t>Thank
You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3840480"/>
            <a:ext cx="40233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D8E2FF"/>
                </a:solidFill>
                <a:latin typeface="Segoe UI"/>
              </a:rPr>
              <a:t>ProDrive IQ
BIS351 — Milestone 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0" y="731520"/>
            <a:ext cx="6400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408B"/>
                </a:solidFill>
                <a:latin typeface="Segoe UI"/>
              </a:rPr>
              <a:t>Team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03520" y="137160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191C1E"/>
                </a:solidFill>
                <a:latin typeface="Segoe UI"/>
              </a:rPr>
              <a:t>Mansour Alkhater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03520" y="1874519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191C1E"/>
                </a:solidFill>
                <a:latin typeface="Segoe UI"/>
              </a:rPr>
              <a:t>Faisal Alsaleh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03520" y="237744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191C1E"/>
                </a:solidFill>
                <a:latin typeface="Segoe UI"/>
              </a:rPr>
              <a:t>Sultan Alqasim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03520" y="288036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191C1E"/>
                </a:solidFill>
                <a:latin typeface="Segoe UI"/>
              </a:rPr>
              <a:t>Abdullah Alsinan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303520" y="3566160"/>
            <a:ext cx="6400800" cy="36576"/>
          </a:xfrm>
          <a:prstGeom prst="rect">
            <a:avLst/>
          </a:prstGeom>
          <a:solidFill>
            <a:srgbClr val="D8E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303520" y="3749039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408B"/>
                </a:solidFill>
                <a:latin typeface="Segoe UI"/>
              </a:rPr>
              <a:t>GitHub Links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03520" y="429768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424752"/>
                </a:solidFill>
                <a:latin typeface="Segoe UI"/>
              </a:rPr>
              <a:t>Live Site: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20" y="429768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91C1E"/>
                </a:solidFill>
                <a:latin typeface="Segoe UI"/>
              </a:rPr>
              <a:t>mbm0008.github.io/prodrive-iq-live/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03520" y="480060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424752"/>
                </a:solidFill>
                <a:latin typeface="Segoe UI"/>
              </a:rPr>
              <a:t>Source Code: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32320" y="480060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91C1E"/>
                </a:solidFill>
                <a:latin typeface="Segoe UI"/>
              </a:rPr>
              <a:t>github.com/mbm0008/prodrive-iq  (milestone-2 branch)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03520" y="5669280"/>
            <a:ext cx="6400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0408B"/>
                </a:solidFill>
                <a:latin typeface="Segoe UI"/>
              </a:rPr>
              <a:t>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