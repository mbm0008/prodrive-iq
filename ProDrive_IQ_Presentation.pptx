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7315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Segoe UI"/>
              </a:rPr>
              <a:t>ProDrive IQ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8E2FF"/>
                </a:solidFill>
                <a:latin typeface="Segoe UI"/>
              </a:rPr>
              <a:t>A Car Service Booking Platform for Saudi Arabia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611880"/>
            <a:ext cx="365760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7947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8E2FF"/>
                </a:solidFill>
                <a:latin typeface="Segoe UI"/>
              </a:rPr>
              <a:t>BIS351 — Web Business Applications  |  Milestone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Mansour Alkhater   ·   Faisal Alsaleh   ·   Sultan Alqasim   ·   Abdullah Alsinan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408B"/>
                </a:solidFill>
                <a:latin typeface="Segoe UI"/>
              </a:rP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91C1E"/>
                </a:solidFill>
                <a:latin typeface="Segoe UI"/>
              </a:rPr>
              <a:t>The 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356616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3566160" cy="109728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2057400"/>
            <a:ext cx="594360" cy="594360"/>
          </a:xfrm>
          <a:prstGeom prst="rect">
            <a:avLst/>
          </a:prstGeom>
          <a:solidFill>
            <a:srgbClr val="D8E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02996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408B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C1E"/>
                </a:solidFill>
                <a:latin typeface="Segoe UI"/>
              </a:rPr>
              <a:t>Find Trusted Workshops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2900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Difficult to find reliable service providers without personal recommendations or referrals.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828800"/>
            <a:ext cx="356616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828800"/>
            <a:ext cx="3566160" cy="109728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80560" y="2057400"/>
            <a:ext cx="594360" cy="594360"/>
          </a:xfrm>
          <a:prstGeom prst="rect">
            <a:avLst/>
          </a:prstGeom>
          <a:solidFill>
            <a:srgbClr val="D8E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202996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408B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78892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C1E"/>
                </a:solidFill>
                <a:latin typeface="Segoe UI"/>
              </a:rPr>
              <a:t>No Price Transparency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42900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Customers don't know the cost of services like oil changes or brake repair until they visit.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828800"/>
            <a:ext cx="356616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828800"/>
            <a:ext cx="3566160" cy="109728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366760" y="2057400"/>
            <a:ext cx="594360" cy="594360"/>
          </a:xfrm>
          <a:prstGeom prst="rect">
            <a:avLst/>
          </a:prstGeom>
          <a:solidFill>
            <a:srgbClr val="D8E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2029968"/>
            <a:ext cx="594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408B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78892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C1E"/>
                </a:solidFill>
                <a:latin typeface="Segoe UI"/>
              </a:rPr>
              <a:t>Inefficient Booking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429000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Appointments require phone calls or physical visits, wasting time and creating uncertainty.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408B"/>
                </a:solidFill>
                <a:latin typeface="Segoe UI"/>
              </a:rPr>
              <a:t>OUR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91C1E"/>
                </a:solidFill>
                <a:latin typeface="Segoe UI"/>
              </a:rPr>
              <a:t>ProDrive IQ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424752"/>
                </a:solidFill>
                <a:latin typeface="Segoe UI"/>
              </a:rPr>
              <a:t>One platform to find, compare, and book car services online.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274320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194560"/>
            <a:ext cx="2743200" cy="109728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774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408B"/>
                </a:solidFill>
                <a:latin typeface="Segoe U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01752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91C1E"/>
                </a:solidFill>
                <a:latin typeface="Segoe UI"/>
              </a:rPr>
              <a:t>10+ Verified Workshops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74903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Listed across Riyadh, Jeddah,
Dammam &amp; Al Khobar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2194560"/>
            <a:ext cx="274320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2194560"/>
            <a:ext cx="2743200" cy="109728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3774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408B"/>
                </a:solidFill>
                <a:latin typeface="Segoe U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01752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91C1E"/>
                </a:solidFill>
                <a:latin typeface="Segoe UI"/>
              </a:rPr>
              <a:t>Full Price Transparency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4903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Service prices shown upfront
including 15% VAT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2194560"/>
            <a:ext cx="274320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2194560"/>
            <a:ext cx="2743200" cy="109728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20840" y="23774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408B"/>
                </a:solidFill>
                <a:latin typeface="Segoe U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301752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91C1E"/>
                </a:solidFill>
                <a:latin typeface="Segoe UI"/>
              </a:rPr>
              <a:t>Online Booking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374903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Book an appointment in
under 2 minutes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46920" y="2194560"/>
            <a:ext cx="274320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46920" y="2194560"/>
            <a:ext cx="2743200" cy="109728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0" y="23774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408B"/>
                </a:solidFill>
                <a:latin typeface="Segoe U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017520"/>
            <a:ext cx="2468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91C1E"/>
                </a:solidFill>
                <a:latin typeface="Segoe UI"/>
              </a:rPr>
              <a:t>Personal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374903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Track all upcoming and past
bookings in one place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408B"/>
                </a:solidFill>
                <a:latin typeface="Segoe UI"/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91C1E"/>
                </a:solidFill>
                <a:latin typeface="Segoe UI"/>
              </a:rPr>
              <a:t>6 Fully Functional Pages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45920"/>
            <a:ext cx="356616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3566160" cy="109728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91C1E"/>
                </a:solidFill>
                <a:latin typeface="Segoe UI"/>
              </a:rPr>
              <a:t>🏠  Home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591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Search by keyword and 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620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6 featured workshop cards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649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Direct booking from the home page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645920"/>
            <a:ext cx="356616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645920"/>
            <a:ext cx="3566160" cy="109728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91C1E"/>
                </a:solidFill>
                <a:latin typeface="Segoe UI"/>
              </a:rPr>
              <a:t>🔐  Login / Register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23591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Toggle between login and register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8620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Inline form validation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3649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Auth saved to localStorage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645920"/>
            <a:ext cx="356616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645920"/>
            <a:ext cx="3566160" cy="109728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1828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91C1E"/>
                </a:solidFill>
                <a:latin typeface="Segoe UI"/>
              </a:rPr>
              <a:t>🔧  Service Providers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3591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All 10 workshops rendered dynamically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8620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Filter by city and service 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36499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Instant results, no page reload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114800"/>
            <a:ext cx="356616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114800"/>
            <a:ext cx="3566160" cy="109728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42976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91C1E"/>
                </a:solidFill>
                <a:latin typeface="Segoe UI"/>
              </a:rPr>
              <a:t>📅  Booking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8280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Select service, date, and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3309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Live summary with 15% VAT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8338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Booking saved on confirm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4114800"/>
            <a:ext cx="356616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43400" y="4114800"/>
            <a:ext cx="3566160" cy="109728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07992" y="42976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91C1E"/>
                </a:solidFill>
                <a:latin typeface="Segoe UI"/>
              </a:rPr>
              <a:t>📊  Dashboard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48280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View upcoming bookings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53309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Service history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26280" y="58338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Profile and logout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4114800"/>
            <a:ext cx="356616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4114800"/>
            <a:ext cx="3566160" cy="109728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94192" y="42976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91C1E"/>
                </a:solidFill>
                <a:latin typeface="Segoe UI"/>
              </a:rPr>
              <a:t>ℹ️  About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8280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Company story and stats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533095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How It Works — 3 steps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83387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24752"/>
                </a:solidFill>
                <a:latin typeface="Segoe UI"/>
              </a:rPr>
              <a:t>–  Contact information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408B"/>
                </a:solidFill>
                <a:latin typeface="Segoe UI"/>
              </a:rPr>
              <a:t>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91C1E"/>
                </a:solidFill>
                <a:latin typeface="Segoe UI"/>
              </a:rPr>
              <a:t>How It Was Built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356616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3566160" cy="45720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013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HTML &amp; CSS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423160"/>
            <a:ext cx="64008" cy="32004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Semantic tags: nav, main,
section, aside, footer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11880"/>
            <a:ext cx="64008" cy="32004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Custom CSS classes for clean,
reusable styling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800600"/>
            <a:ext cx="64008" cy="32004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Pure custom CSS — no
frameworks or CDN needed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356616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1737360"/>
            <a:ext cx="3566160" cy="45720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18013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JavaScript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26280" y="2423160"/>
            <a:ext cx="64008" cy="32004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237744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One shared script.js for
all 6 pages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26280" y="3611880"/>
            <a:ext cx="64008" cy="32004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60" y="356616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Dynamic cards rendered from
a data array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26280" y="4800600"/>
            <a:ext cx="64008" cy="32004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9160" y="47548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Real-time VAT calculation
and form validation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1737360"/>
            <a:ext cx="3566160" cy="4389120"/>
          </a:xfrm>
          <a:prstGeom prst="rect">
            <a:avLst/>
          </a:prstGeom>
          <a:solidFill>
            <a:srgbClr val="FFFFFF"/>
          </a:solidFill>
          <a:ln w="6350">
            <a:solidFill>
              <a:srgbClr val="D8E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0" y="1737360"/>
            <a:ext cx="3566160" cy="45720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180136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Segoe UI"/>
              </a:rPr>
              <a:t>localStorage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2423160"/>
            <a:ext cx="64008" cy="32004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5360" y="237744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Stores registered users
and login sessions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3611880"/>
            <a:ext cx="64008" cy="32004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0" y="356616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Saves confirmed bookings
across pages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0" y="4800600"/>
            <a:ext cx="64008" cy="32004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0" y="475488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24752"/>
                </a:solidFill>
                <a:latin typeface="Segoe UI"/>
              </a:rPr>
              <a:t>No backend or server
required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371600"/>
            <a:ext cx="121889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8E2FF"/>
                </a:solidFill>
                <a:latin typeface="Segoe UI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103120"/>
            <a:ext cx="1218895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Segoe UI"/>
              </a:rPr>
              <a:t>Let's see it in action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3291840"/>
            <a:ext cx="7616952" cy="82296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3337560"/>
            <a:ext cx="76169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Segoe UI"/>
              </a:rPr>
              <a:t>mbm0008.github.io/pro-drive-iq-live/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805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8E2FF"/>
                </a:solidFill>
                <a:latin typeface="Segoe UI"/>
              </a:rPr>
              <a:t>1. Register a new account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44805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8E2FF"/>
                </a:solidFill>
                <a:latin typeface="Segoe UI"/>
              </a:rPr>
              <a:t>2. Browse workshops &amp; click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44805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8E2FF"/>
                </a:solidFill>
                <a:latin typeface="Segoe UI"/>
              </a:rPr>
              <a:t>3. Complete booking — see VAT summary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44805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8E2FF"/>
                </a:solidFill>
                <a:latin typeface="Segoe UI"/>
              </a:rPr>
              <a:t>4. Check the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704320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040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4023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Segoe UI"/>
              </a:rPr>
              <a:t>Thank
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84048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8E2FF"/>
                </a:solidFill>
                <a:latin typeface="Segoe UI"/>
              </a:rPr>
              <a:t>ProDrive IQ
BIS351 — Milestone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7315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08B"/>
                </a:solidFill>
                <a:latin typeface="Segoe UI"/>
              </a:rPr>
              <a:t>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37160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91C1E"/>
                </a:solidFill>
                <a:latin typeface="Segoe UI"/>
              </a:rPr>
              <a:t>Mansour Alkhater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187451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91C1E"/>
                </a:solidFill>
                <a:latin typeface="Segoe UI"/>
              </a:rPr>
              <a:t>Faisal Alsaleh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37744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91C1E"/>
                </a:solidFill>
                <a:latin typeface="Segoe UI"/>
              </a:rPr>
              <a:t>Sultan Alqasim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88036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91C1E"/>
                </a:solidFill>
                <a:latin typeface="Segoe UI"/>
              </a:rPr>
              <a:t>Abdullah Alsinan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0" y="3566160"/>
            <a:ext cx="6400800" cy="36576"/>
          </a:xfrm>
          <a:prstGeom prst="rect">
            <a:avLst/>
          </a:prstGeom>
          <a:solidFill>
            <a:srgbClr val="D8E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3749039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08B"/>
                </a:solidFill>
                <a:latin typeface="Segoe UI"/>
              </a:rPr>
              <a:t>GitHub Links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4297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24752"/>
                </a:solidFill>
                <a:latin typeface="Segoe UI"/>
              </a:rPr>
              <a:t>Live Site: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91C1E"/>
                </a:solidFill>
                <a:latin typeface="Segoe UI"/>
              </a:rPr>
              <a:t>mbm0008.github.io/pro-drive-iq-live/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48006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424752"/>
                </a:solidFill>
                <a:latin typeface="Segoe UI"/>
              </a:rPr>
              <a:t>Source Code: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800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91C1E"/>
                </a:solidFill>
                <a:latin typeface="Segoe UI"/>
              </a:rPr>
              <a:t>github.com/mbm0008/prodrive-iq  (milestone-2 branch)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6692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408B"/>
                </a:solidFill>
                <a:latin typeface="Segoe UI"/>
              </a:rP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